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协作 SaaS 市场规模（亿元）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市场规模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12.4</c:v>
                </c:pt>
                <c:pt idx="1">
                  <c:v>18.6</c:v>
                </c:pt>
                <c:pt idx="2">
                  <c:v>27.3</c:v>
                </c:pt>
                <c:pt idx="3">
                  <c:v>41.2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开场：主持人介绍发布会流程，总时长约 45 分钟。记得播放暖场视频。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议程页停留 1 分钟，预告最后有抽奖，留住观众。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讲三个问卷结论时配合手势，图表数字逐个出现（动画略）。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每个亮点演示约 5 分钟，提前准备演示账号与脏数据清理。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价格公布后停顿 3 秒，等掌声。随后讲迁移政策打消顾虑。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结尾抽奖 + 合影，提醒观众填写反馈问卷领取周边。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05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F9E795"/>
                </a:solidFill>
                <a:latin typeface="微软雅黑"/>
              </a:rPr>
              <a:t>星云协作 NEBULA · 2026 秋季新品发布会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星云协作 3.0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让每一次协作，都快人一步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微软雅黑"/>
              </a:rPr>
              <a:t>全新 AI 会议纪要 · 跨组织空间 · 99.99% 可用性 SLA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微软雅黑"/>
              </a:rPr>
              <a:t>2026 年 10 月 18 日 · 杭州云栖小镇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4206240"/>
            <a:ext cx="3017520" cy="1645920"/>
          </a:xfrm>
          <a:prstGeom prst="round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预约内测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FFFFFF"/>
                </a:solidFill>
                <a:latin typeface="微软雅黑"/>
              </a:rPr>
              <a:t>扫码锁定 500 个首批名额
发布会现场公布价格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600" b="1">
                <a:solidFill>
                  <a:srgbClr val="1E2761"/>
                </a:solidFill>
                <a:latin typeface="微软雅黑"/>
              </a:rPr>
              <a:t>今天的三个篇章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600" b="1">
                <a:solidFill>
                  <a:srgbClr val="1E2761"/>
                </a:solidFill>
                <a:latin typeface="微软雅黑"/>
              </a:rPr>
              <a:t>AGENDA · 全程约 45 分钟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3383280" cy="3931920"/>
          </a:xfrm>
          <a:prstGeom prst="roundRect">
            <a:avLst/>
          </a:prstGeom>
          <a:solidFill>
            <a:srgbClr val="F2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1E2761"/>
                </a:solidFill>
                <a:latin typeface="微软雅黑"/>
              </a:rPr>
              <a:t>01
看见变化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313131"/>
                </a:solidFill>
                <a:latin typeface="微软雅黑"/>
              </a:rPr>
              <a:t>混合办公 3 年：协作工具的 5 个真实痛点，来自 1200 份问卷。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828800"/>
            <a:ext cx="3383280" cy="3931920"/>
          </a:xfrm>
          <a:prstGeom prst="roundRect">
            <a:avLst/>
          </a:prstGeom>
          <a:solidFill>
            <a:srgbClr val="F2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1E2761"/>
                </a:solidFill>
                <a:latin typeface="微软雅黑"/>
              </a:rPr>
              <a:t>02
三款亮点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313131"/>
                </a:solidFill>
                <a:latin typeface="微软雅黑"/>
              </a:rPr>
              <a:t>AI 纪要、跨组织空间、离线优先——现场逐一演示。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828800"/>
            <a:ext cx="3383280" cy="3931920"/>
          </a:xfrm>
          <a:prstGeom prst="roundRect">
            <a:avLst/>
          </a:prstGeom>
          <a:solidFill>
            <a:srgbClr val="F2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1E2761"/>
                </a:solidFill>
                <a:latin typeface="微软雅黑"/>
              </a:rPr>
              <a:t>03
价格与路线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313131"/>
                </a:solidFill>
                <a:latin typeface="微软雅黑"/>
              </a:rPr>
              <a:t>版本定价、迁移政策与未来 12 个月路线图。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600" b="1">
                <a:solidFill>
                  <a:srgbClr val="1E2761"/>
                </a:solidFill>
                <a:latin typeface="微软雅黑"/>
              </a:rPr>
              <a:t>市场在快速长大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600" b="1">
                <a:solidFill>
                  <a:srgbClr val="1E2761"/>
                </a:solidFill>
                <a:latin typeface="微软雅黑"/>
              </a:rPr>
              <a:t>INSIGHT · 协作 SaaS 市场规模（亿元）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微软雅黑"/>
              </a:rPr>
              <a:t>1200 份问卷的三个结论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13131"/>
                </a:solidFill>
                <a:latin typeface="微软雅黑"/>
              </a:rPr>
              <a:t>68% 的团队同时用 3 款以上协作工具，切换成本极高。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13131"/>
                </a:solidFill>
                <a:latin typeface="微软雅黑"/>
              </a:rPr>
              <a:t>会议纪要整理平均耗时 47 分钟，是最痛的环节。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13131"/>
                </a:solidFill>
                <a:latin typeface="微软雅黑"/>
              </a:rPr>
              <a:t>跨公司协作时，72% 的人被迫用私人微信传文件。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0" y="1554480"/>
          <a:ext cx="576072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F6B7A"/>
                </a:solidFill>
                <a:latin typeface="微软雅黑"/>
              </a:rPr>
              <a:t>数据来源：内部问卷（n=1200）+ 公开研报整理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600" b="1">
                <a:solidFill>
                  <a:srgbClr val="1E2761"/>
                </a:solidFill>
                <a:latin typeface="微软雅黑"/>
              </a:rPr>
              <a:t>三大亮点，现场演示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600" b="1">
                <a:solidFill>
                  <a:srgbClr val="1E2761"/>
                </a:solidFill>
                <a:latin typeface="微软雅黑"/>
              </a:rPr>
              <a:t>HIGHLIGHTS · 全部可在发布会后即刻试用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3383280" cy="3931920"/>
          </a:xfrm>
          <a:prstGeom prst="roundRect">
            <a:avLst/>
          </a:prstGeom>
          <a:solidFill>
            <a:srgbClr val="F2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761"/>
                </a:solidFill>
                <a:latin typeface="微软雅黑"/>
              </a:rPr>
              <a:t>AI 会议纪要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313131"/>
                </a:solidFill>
                <a:latin typeface="微软雅黑"/>
              </a:rPr>
              <a:t>开完会 10 秒出纪要：待办自动@到人，支持 12 种语言互译，准确率 97.3%。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828800"/>
            <a:ext cx="3383280" cy="3931920"/>
          </a:xfrm>
          <a:prstGeom prst="roundRect">
            <a:avLst/>
          </a:prstGeom>
          <a:solidFill>
            <a:srgbClr val="F2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761"/>
                </a:solidFill>
                <a:latin typeface="微软雅黑"/>
              </a:rPr>
              <a:t>跨组织空间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313131"/>
                </a:solidFill>
                <a:latin typeface="微软雅黑"/>
              </a:rPr>
              <a:t>和上下游建共享空间：文件、任务、日程三同步，权限可细到单个文档。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828800"/>
            <a:ext cx="3383280" cy="3931920"/>
          </a:xfrm>
          <a:prstGeom prst="roundRect">
            <a:avLst/>
          </a:prstGeom>
          <a:solidFill>
            <a:srgbClr val="F2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761"/>
                </a:solidFill>
                <a:latin typeface="微软雅黑"/>
              </a:rPr>
              <a:t>离线优先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313131"/>
                </a:solidFill>
                <a:latin typeface="微软雅黑"/>
              </a:rPr>
              <a:t>高铁、机舱照样用：弱网秒开，联网后自动合并，多端零冲突。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600" b="1">
                <a:solidFill>
                  <a:srgbClr val="1E2761"/>
                </a:solidFill>
                <a:latin typeface="微软雅黑"/>
              </a:rPr>
              <a:t>版本与定价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600" b="1">
                <a:solidFill>
                  <a:srgbClr val="1E2761"/>
                </a:solidFill>
                <a:latin typeface="微软雅黑"/>
              </a:rPr>
              <a:t>PRICING · 按人按年，老用户续费 8 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2926080"/>
                <a:gridCol w="2651760"/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版本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免费版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专业版 ★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旗舰版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761"/>
                          </a:solidFill>
                          <a:latin typeface="微软雅黑"/>
                        </a:rPr>
                        <a:t>价格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13131"/>
                          </a:solidFill>
                          <a:latin typeface="微软雅黑"/>
                        </a:rPr>
                        <a:t>¥0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13131"/>
                          </a:solidFill>
                          <a:latin typeface="微软雅黑"/>
                        </a:rPr>
                        <a:t>¥198 / 人/年</a:t>
                      </a:r>
                    </a:p>
                  </a:txBody>
                  <a:tcPr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13131"/>
                          </a:solidFill>
                          <a:latin typeface="微软雅黑"/>
                        </a:rPr>
                        <a:t>¥398 / 人/年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761"/>
                          </a:solidFill>
                          <a:latin typeface="微软雅黑"/>
                        </a:rPr>
                        <a:t>空间上限</a:t>
                      </a:r>
                    </a:p>
                  </a:txBody>
                  <a:tcPr>
                    <a:solidFill>
                      <a:srgbClr val="F2F4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13131"/>
                          </a:solidFill>
                          <a:latin typeface="微软雅黑"/>
                        </a:rPr>
                        <a:t>10 GB</a:t>
                      </a:r>
                    </a:p>
                  </a:txBody>
                  <a:tcPr>
                    <a:solidFill>
                      <a:srgbClr val="F2F4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13131"/>
                          </a:solidFill>
                          <a:latin typeface="微软雅黑"/>
                        </a:rPr>
                        <a:t>1 TB</a:t>
                      </a:r>
                    </a:p>
                  </a:txBody>
                  <a:tcPr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13131"/>
                          </a:solidFill>
                          <a:latin typeface="微软雅黑"/>
                        </a:rPr>
                        <a:t>不限量</a:t>
                      </a:r>
                    </a:p>
                  </a:txBody>
                  <a:tcPr>
                    <a:solidFill>
                      <a:srgbClr val="F2F4F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761"/>
                          </a:solidFill>
                          <a:latin typeface="微软雅黑"/>
                        </a:rPr>
                        <a:t>AI 纪要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13131"/>
                          </a:solidFill>
                          <a:latin typeface="微软雅黑"/>
                        </a:rPr>
                        <a:t>每月 5 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13131"/>
                          </a:solidFill>
                          <a:latin typeface="微软雅黑"/>
                        </a:rPr>
                        <a:t>无限次</a:t>
                      </a:r>
                    </a:p>
                  </a:txBody>
                  <a:tcPr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13131"/>
                          </a:solidFill>
                          <a:latin typeface="微软雅黑"/>
                        </a:rPr>
                        <a:t>无限次 + 定制词库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761"/>
                          </a:solidFill>
                          <a:latin typeface="微软雅黑"/>
                        </a:rPr>
                        <a:t>跨组织空间</a:t>
                      </a:r>
                    </a:p>
                  </a:txBody>
                  <a:tcPr>
                    <a:solidFill>
                      <a:srgbClr val="F2F4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13131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4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13131"/>
                          </a:solidFill>
                          <a:latin typeface="微软雅黑"/>
                        </a:rPr>
                        <a:t>5 个</a:t>
                      </a:r>
                    </a:p>
                  </a:txBody>
                  <a:tcPr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13131"/>
                          </a:solidFill>
                          <a:latin typeface="微软雅黑"/>
                        </a:rPr>
                        <a:t>不限 + 审计日志</a:t>
                      </a:r>
                    </a:p>
                  </a:txBody>
                  <a:tcPr>
                    <a:solidFill>
                      <a:srgbClr val="F2F4F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761"/>
                          </a:solidFill>
                          <a:latin typeface="微软雅黑"/>
                        </a:rPr>
                        <a:t>SLA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13131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13131"/>
                          </a:solidFill>
                          <a:latin typeface="微软雅黑"/>
                        </a:rPr>
                        <a:t>99.9%</a:t>
                      </a:r>
                    </a:p>
                  </a:txBody>
                  <a:tcPr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13131"/>
                          </a:solidFill>
                          <a:latin typeface="微软雅黑"/>
                        </a:rPr>
                        <a:t>99.99% 专属客服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029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13131"/>
                </a:solidFill>
                <a:latin typeface="微软雅黑"/>
              </a:rPr>
              <a:t>迁移政策：Notion / 飞书 / 钉钉一键导入，100 人以下团队免费协助迁移。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13131"/>
                </a:solidFill>
                <a:latin typeface="微软雅黑"/>
              </a:rPr>
              <a:t>教育与公益组织全年 5 折。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600" b="1">
                <a:solidFill>
                  <a:srgbClr val="1E2761"/>
                </a:solidFill>
                <a:latin typeface="微软雅黑"/>
              </a:rPr>
              <a:t>未来 12 个月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600" b="1">
                <a:solidFill>
                  <a:srgbClr val="1E2761"/>
                </a:solidFill>
                <a:latin typeface="微软雅黑"/>
              </a:rPr>
              <a:t>ROADMAP · 今天只是起点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606040" cy="2377440"/>
          </a:xfrm>
          <a:prstGeom prst="roundRect">
            <a:avLst/>
          </a:prstGeom>
          <a:solidFill>
            <a:srgbClr val="F2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761"/>
                </a:solidFill>
                <a:latin typeface="微软雅黑"/>
              </a:rPr>
              <a:t>2026 Q4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313131"/>
                </a:solidFill>
                <a:latin typeface="微软雅黑"/>
              </a:rPr>
              <a:t>开放 API 与 Webhook，上线 50+ 集成。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20439" y="1645920"/>
            <a:ext cx="2606040" cy="2377440"/>
          </a:xfrm>
          <a:prstGeom prst="roundRect">
            <a:avLst/>
          </a:prstGeom>
          <a:solidFill>
            <a:srgbClr val="F2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761"/>
                </a:solidFill>
                <a:latin typeface="微软雅黑"/>
              </a:rPr>
              <a:t>2027 Q1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313131"/>
                </a:solidFill>
                <a:latin typeface="微软雅黑"/>
              </a:rPr>
              <a:t>桌面端 2.0：多窗口与全局搜索。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59" y="1645920"/>
            <a:ext cx="2606040" cy="2377440"/>
          </a:xfrm>
          <a:prstGeom prst="roundRect">
            <a:avLst/>
          </a:prstGeom>
          <a:solidFill>
            <a:srgbClr val="F2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761"/>
                </a:solidFill>
                <a:latin typeface="微软雅黑"/>
              </a:rPr>
              <a:t>2027 Q2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313131"/>
                </a:solidFill>
                <a:latin typeface="微软雅黑"/>
              </a:rPr>
              <a:t>出海版：英文、日文数据中心上线。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98280" y="1645920"/>
            <a:ext cx="2606040" cy="2377440"/>
          </a:xfrm>
          <a:prstGeom prst="roundRect">
            <a:avLst/>
          </a:prstGeom>
          <a:solidFill>
            <a:srgbClr val="F2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761"/>
                </a:solidFill>
                <a:latin typeface="微软雅黑"/>
              </a:rPr>
              <a:t>2027 Q3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313131"/>
                </a:solidFill>
                <a:latin typeface="微软雅黑"/>
              </a:rPr>
              <a:t>AI 助手开放平台，支持企业私域知识。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805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E2761"/>
                </a:solidFill>
                <a:latin typeface="微软雅黑"/>
              </a:rPr>
              <a:t>谢谢观看 · Q&amp;A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5F6B7A"/>
                </a:solidFill>
                <a:latin typeface="微软雅黑"/>
              </a:rPr>
              <a:t>商务合作：partner@nebula.example.com · 内测申请：nebula.example.com/early-access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星云协作 3.0 新品发布会</dc:title>
  <dc:subject/>
  <dc:creator>星云协作市场部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